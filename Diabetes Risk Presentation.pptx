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83" r:id="rId5"/>
    <p:sldId id="284" r:id="rId6"/>
    <p:sldId id="285" r:id="rId7"/>
    <p:sldId id="258" r:id="rId8"/>
    <p:sldId id="282" r:id="rId9"/>
    <p:sldId id="259" r:id="rId10"/>
    <p:sldId id="281" r:id="rId11"/>
    <p:sldId id="278" r:id="rId12"/>
    <p:sldId id="279" r:id="rId13"/>
    <p:sldId id="280" r:id="rId14"/>
    <p:sldId id="286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5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32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F4A8-0C0B-6B25-6E46-B4AF04CD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8BB1D-284A-A0FB-11FF-65F8BA782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1A533-F29E-0B19-6D7A-1BBEEE7E6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651B5-2353-DEB1-787D-AC0B42FB0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4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7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4846320" cy="484632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B3B6F">
              <a:alpha val="70000"/>
            </a:srgbClr>
          </a:solidFill>
          <a:ln/>
        </p:spPr>
        <p:txBody>
          <a:bodyPr/>
          <a:lstStyle/>
          <a:p>
            <a:endParaRPr lang="en-001" dirty="0"/>
          </a:p>
        </p:txBody>
      </p:sp>
      <p:sp>
        <p:nvSpPr>
          <p:cNvPr id="4" name="Shape 2"/>
          <p:cNvSpPr/>
          <p:nvPr/>
        </p:nvSpPr>
        <p:spPr>
          <a:xfrm>
            <a:off x="10607040" y="4480560"/>
            <a:ext cx="2377440" cy="2377440"/>
          </a:xfrm>
          <a:prstGeom prst="ellipse">
            <a:avLst/>
          </a:prstGeom>
          <a:solidFill>
            <a:srgbClr val="FF6B5B">
              <a:alpha val="45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3F8EFC"/>
          </a:solidFill>
          <a:ln/>
        </p:spPr>
        <p:txBody>
          <a:bodyPr/>
          <a:lstStyle/>
          <a:p>
            <a:endParaRPr lang="en-001" sz="2800"/>
          </a:p>
        </p:txBody>
      </p:sp>
      <p:pic>
        <p:nvPicPr>
          <p:cNvPr id="6" name="Image 0" descr="/home/claude/icons/stethosc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1622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36975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ANALYSIS PROJECT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2663045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Diabetes Risk Analysis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8856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cleaning to insights and practical health recommendations</a:t>
            </a:r>
            <a:endParaRPr lang="en-US" sz="20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5F322C0-F073-FD6F-D32F-83E46B0B9586}"/>
              </a:ext>
            </a:extLst>
          </p:cNvPr>
          <p:cNvSpPr/>
          <p:nvPr/>
        </p:nvSpPr>
        <p:spPr>
          <a:xfrm>
            <a:off x="822960" y="422881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9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/home/claude/icons/database_navy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0120" y="2057400"/>
            <a:ext cx="320040" cy="320040"/>
          </a:xfrm>
          <a:prstGeom prst="rect">
            <a:avLst/>
          </a:prstGeom>
          <a:ln>
            <a:noFill/>
          </a:ln>
        </p:spPr>
      </p:pic>
      <p:sp>
        <p:nvSpPr>
          <p:cNvPr id="7" name="Text 4"/>
          <p:cNvSpPr/>
          <p:nvPr/>
        </p:nvSpPr>
        <p:spPr>
          <a:xfrm>
            <a:off x="1645920" y="181051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221992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the diabetes risk dataset and its core columns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9864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822960" y="3127248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broom_navy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60120" y="32644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01752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45920" y="3429000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values, duplicates, and fixing data types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0565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5" name="Shape 11"/>
          <p:cNvSpPr/>
          <p:nvPr/>
        </p:nvSpPr>
        <p:spPr>
          <a:xfrm>
            <a:off x="822960" y="4334256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6" name="Image 2" descr="/home/claude/icons/chartpie_navy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60120" y="447141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2245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45920" y="463600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analytical questions, each answered with its own chart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31266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0" name="Shape 15"/>
          <p:cNvSpPr/>
          <p:nvPr/>
        </p:nvSpPr>
        <p:spPr>
          <a:xfrm>
            <a:off x="822960" y="5541264"/>
            <a:ext cx="594360" cy="59436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1" name="Image 3" descr="/home/claude/icons/heartbeat_coral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960120" y="567842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43153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Recommendations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645920" y="584301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to lower the risk of developing diabetes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246888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9692640" y="3931920"/>
            <a:ext cx="4023360" cy="402336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Text 2"/>
          <p:cNvSpPr/>
          <p:nvPr/>
        </p:nvSpPr>
        <p:spPr>
          <a:xfrm>
            <a:off x="9052560" y="2331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1B335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822960" y="1893723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/home/claude/icons/bro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095805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Understanding the Data</a:t>
            </a:r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B9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the diabetes risk dataset and its core columns</a:t>
            </a:r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21931E-A8CA-B20D-53A9-7CDF9EE5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3387"/>
          <a:stretch>
            <a:fillRect/>
          </a:stretch>
        </p:blipFill>
        <p:spPr>
          <a:xfrm>
            <a:off x="2941292" y="153624"/>
            <a:ext cx="4748062" cy="14684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499EE4-F735-0FC3-337C-2D20594D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4452"/>
            <a:ext cx="12192000" cy="26501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496DC9-81FE-DF3A-A183-318A3621B3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774"/>
          <a:stretch>
            <a:fillRect/>
          </a:stretch>
        </p:blipFill>
        <p:spPr>
          <a:xfrm>
            <a:off x="2941292" y="2017206"/>
            <a:ext cx="4748062" cy="7324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30C8DF-AFD9-C8A2-6B9E-0A199C61F131}"/>
              </a:ext>
            </a:extLst>
          </p:cNvPr>
          <p:cNvSpPr txBox="1"/>
          <p:nvPr/>
        </p:nvSpPr>
        <p:spPr>
          <a:xfrm>
            <a:off x="645459" y="548751"/>
            <a:ext cx="3356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badi" panose="020B0604020104020204" pitchFamily="34" charset="0"/>
              </a:rPr>
              <a:t>Import Libraries :</a:t>
            </a:r>
            <a:endParaRPr lang="en-001" sz="2000" b="1" u="sng" dirty="0">
              <a:latin typeface="Abadi" panose="020B06040201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E9819C-A244-A52B-103C-A20EE81E152C}"/>
              </a:ext>
            </a:extLst>
          </p:cNvPr>
          <p:cNvSpPr txBox="1"/>
          <p:nvPr/>
        </p:nvSpPr>
        <p:spPr>
          <a:xfrm>
            <a:off x="645459" y="2163101"/>
            <a:ext cx="3356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badi" panose="020B0604020104020204" pitchFamily="34" charset="0"/>
              </a:rPr>
              <a:t>Shape of data :</a:t>
            </a:r>
            <a:endParaRPr lang="en-001" sz="2000" b="1" u="sng" dirty="0">
              <a:latin typeface="Abadi" panose="020B06040201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88EF2-B3A9-FE68-7451-595DB1CF6C55}"/>
              </a:ext>
            </a:extLst>
          </p:cNvPr>
          <p:cNvSpPr txBox="1"/>
          <p:nvPr/>
        </p:nvSpPr>
        <p:spPr>
          <a:xfrm>
            <a:off x="645459" y="3377461"/>
            <a:ext cx="3557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badi" panose="020B0604020104020204" pitchFamily="34" charset="0"/>
              </a:rPr>
              <a:t>Show a sample of data :</a:t>
            </a:r>
            <a:endParaRPr lang="en-001" sz="2000" b="1" u="sng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98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37E38-989F-7419-2F52-7D9B9F61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C13481-9DB2-5FCB-3663-D582F535C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82"/>
          <a:stretch>
            <a:fillRect/>
          </a:stretch>
        </p:blipFill>
        <p:spPr>
          <a:xfrm>
            <a:off x="1" y="0"/>
            <a:ext cx="5798372" cy="63350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66585-F97A-C06B-BB8E-6C02012F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6" r="12548"/>
          <a:stretch>
            <a:fillRect/>
          </a:stretch>
        </p:blipFill>
        <p:spPr>
          <a:xfrm>
            <a:off x="5717675" y="3009312"/>
            <a:ext cx="5798373" cy="3325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BB628E-66A4-3780-0E85-85F5F219C061}"/>
              </a:ext>
            </a:extLst>
          </p:cNvPr>
          <p:cNvSpPr txBox="1"/>
          <p:nvPr/>
        </p:nvSpPr>
        <p:spPr>
          <a:xfrm>
            <a:off x="7157095" y="897047"/>
            <a:ext cx="3356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badi" panose="020B0604020104020204" pitchFamily="34" charset="0"/>
              </a:rPr>
              <a:t>Information about data</a:t>
            </a:r>
            <a:endParaRPr lang="en-001" sz="2000" b="1" u="sng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3BC6-9E4C-6DFF-AF8F-2F5B425A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4B3FD7-8F57-0645-4C61-C1C253F49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65"/>
          <a:stretch>
            <a:fillRect/>
          </a:stretch>
        </p:blipFill>
        <p:spPr>
          <a:xfrm>
            <a:off x="92363" y="575534"/>
            <a:ext cx="11489167" cy="3154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A132D-5883-E6E9-B9A9-55D1AC77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0"/>
          <a:stretch>
            <a:fillRect/>
          </a:stretch>
        </p:blipFill>
        <p:spPr>
          <a:xfrm>
            <a:off x="1034915" y="3505965"/>
            <a:ext cx="10632140" cy="3154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2481C2-A545-2158-FC67-9BB01F77F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06" y="3883512"/>
            <a:ext cx="573109" cy="23989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86E4E3-520D-626A-E350-AFDDC3001C02}"/>
              </a:ext>
            </a:extLst>
          </p:cNvPr>
          <p:cNvSpPr txBox="1"/>
          <p:nvPr/>
        </p:nvSpPr>
        <p:spPr>
          <a:xfrm>
            <a:off x="543859" y="267967"/>
            <a:ext cx="5025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badi" panose="020B0604020104020204" pitchFamily="34" charset="0"/>
              </a:rPr>
              <a:t>Describe the numerical data</a:t>
            </a:r>
            <a:endParaRPr lang="en-001" sz="2000" b="1" u="sng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61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About the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61394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medical dataset built to assess diabetes risk in patients, combining biometric measurements, demographic data and lifestyle habits, and ending with each patient classified into a risk level (Low / Moderate / High).</a:t>
            </a:r>
            <a:endParaRPr lang="en-US" sz="14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Shape 13"/>
          <p:cNvSpPr/>
          <p:nvPr/>
        </p:nvSpPr>
        <p:spPr>
          <a:xfrm>
            <a:off x="9227343" y="2581617"/>
            <a:ext cx="2423160" cy="3903794"/>
          </a:xfrm>
          <a:prstGeom prst="roundRect">
            <a:avLst>
              <a:gd name="adj" fmla="val 3288"/>
            </a:avLst>
          </a:prstGeom>
          <a:solidFill>
            <a:srgbClr val="12213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1" name="Text 14"/>
          <p:cNvSpPr/>
          <p:nvPr/>
        </p:nvSpPr>
        <p:spPr>
          <a:xfrm>
            <a:off x="8943948" y="2947377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50,000</a:t>
            </a:r>
            <a:endParaRPr lang="en-US" sz="3000" dirty="0"/>
          </a:p>
        </p:txBody>
      </p:sp>
      <p:sp>
        <p:nvSpPr>
          <p:cNvPr id="22" name="Text 15"/>
          <p:cNvSpPr/>
          <p:nvPr/>
        </p:nvSpPr>
        <p:spPr>
          <a:xfrm>
            <a:off x="8943948" y="3477729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rows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 flipV="1">
            <a:off x="9227342" y="3962361"/>
            <a:ext cx="2423160" cy="36576"/>
          </a:xfrm>
          <a:prstGeom prst="line">
            <a:avLst/>
          </a:prstGeom>
          <a:noFill/>
          <a:ln w="12700">
            <a:solidFill>
              <a:srgbClr val="2C457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17"/>
          <p:cNvSpPr/>
          <p:nvPr/>
        </p:nvSpPr>
        <p:spPr>
          <a:xfrm>
            <a:off x="8943948" y="4117809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41</a:t>
            </a:r>
            <a:endParaRPr lang="en-US" sz="3000" dirty="0"/>
          </a:p>
        </p:txBody>
      </p:sp>
      <p:sp>
        <p:nvSpPr>
          <p:cNvPr id="25" name="Text 18"/>
          <p:cNvSpPr/>
          <p:nvPr/>
        </p:nvSpPr>
        <p:spPr>
          <a:xfrm>
            <a:off x="8943948" y="4648161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9227342" y="5169369"/>
            <a:ext cx="2423161" cy="0"/>
          </a:xfrm>
          <a:prstGeom prst="line">
            <a:avLst/>
          </a:prstGeom>
          <a:noFill/>
          <a:ln w="12700">
            <a:solidFill>
              <a:srgbClr val="2C4570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0" name="Text 23"/>
          <p:cNvSpPr/>
          <p:nvPr/>
        </p:nvSpPr>
        <p:spPr>
          <a:xfrm>
            <a:off x="8943948" y="5365481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8943948" y="5880669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</a:t>
            </a:r>
            <a:endParaRPr lang="en-US" sz="1200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E97B7F01-0766-3CE3-48DA-E7EC717269A1}"/>
              </a:ext>
            </a:extLst>
          </p:cNvPr>
          <p:cNvSpPr/>
          <p:nvPr/>
        </p:nvSpPr>
        <p:spPr>
          <a:xfrm>
            <a:off x="383771" y="2633472"/>
            <a:ext cx="3450705" cy="1778508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E6CD04C5-86B1-77AD-9379-3C5FCE7DD4ED}"/>
              </a:ext>
            </a:extLst>
          </p:cNvPr>
          <p:cNvSpPr/>
          <p:nvPr/>
        </p:nvSpPr>
        <p:spPr>
          <a:xfrm>
            <a:off x="665711" y="2779776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39" name="Image 0" descr="/home/claude/icons/users_white.png">
            <a:extLst>
              <a:ext uri="{FF2B5EF4-FFF2-40B4-BE49-F238E27FC236}">
                <a16:creationId xmlns:a16="http://schemas.microsoft.com/office/drawing/2014/main" id="{9FC9AACF-8035-CC43-5076-265E303D4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39" y="2889504"/>
            <a:ext cx="283464" cy="283464"/>
          </a:xfrm>
          <a:prstGeom prst="rect">
            <a:avLst/>
          </a:prstGeom>
        </p:spPr>
      </p:pic>
      <p:sp>
        <p:nvSpPr>
          <p:cNvPr id="41" name="Text 4">
            <a:extLst>
              <a:ext uri="{FF2B5EF4-FFF2-40B4-BE49-F238E27FC236}">
                <a16:creationId xmlns:a16="http://schemas.microsoft.com/office/drawing/2014/main" id="{4B65BE86-45E6-58E2-DC5A-C244E157801A}"/>
              </a:ext>
            </a:extLst>
          </p:cNvPr>
          <p:cNvSpPr/>
          <p:nvPr/>
        </p:nvSpPr>
        <p:spPr>
          <a:xfrm>
            <a:off x="548640" y="3324837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Profile</a:t>
            </a:r>
            <a:endParaRPr lang="en-US" sz="1700" dirty="0"/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6F0A67AB-9D51-0841-6BDE-ECD7EE895767}"/>
              </a:ext>
            </a:extLst>
          </p:cNvPr>
          <p:cNvSpPr/>
          <p:nvPr/>
        </p:nvSpPr>
        <p:spPr>
          <a:xfrm>
            <a:off x="548640" y="3662172"/>
            <a:ext cx="3130665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Age . Gender . Country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BMI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Waist_Circumference_cm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Work_Type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Residence_Type</a:t>
            </a:r>
            <a:endParaRPr lang="en-US" sz="115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20C205A4-F041-CBA9-A234-73E0404B9193}"/>
              </a:ext>
            </a:extLst>
          </p:cNvPr>
          <p:cNvSpPr/>
          <p:nvPr/>
        </p:nvSpPr>
        <p:spPr>
          <a:xfrm>
            <a:off x="4000223" y="2633472"/>
            <a:ext cx="4579896" cy="1802062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702E715E-2F5C-E6E5-444C-53E32F2520B4}"/>
              </a:ext>
            </a:extLst>
          </p:cNvPr>
          <p:cNvSpPr/>
          <p:nvPr/>
        </p:nvSpPr>
        <p:spPr>
          <a:xfrm>
            <a:off x="4192616" y="2788389"/>
            <a:ext cx="514991" cy="502920"/>
          </a:xfrm>
          <a:prstGeom prst="roundRect">
            <a:avLst>
              <a:gd name="adj" fmla="val 28000"/>
            </a:avLst>
          </a:prstGeom>
          <a:solidFill>
            <a:srgbClr val="3F8EFC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49" name="Image 1" descr="/home/claude/icons/notesmedical_white.png">
            <a:extLst>
              <a:ext uri="{FF2B5EF4-FFF2-40B4-BE49-F238E27FC236}">
                <a16:creationId xmlns:a16="http://schemas.microsoft.com/office/drawing/2014/main" id="{A60AFDDB-6085-B09D-6527-FFE8ACCDE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378" y="2858781"/>
            <a:ext cx="265834" cy="344910"/>
          </a:xfrm>
          <a:prstGeom prst="rect">
            <a:avLst/>
          </a:prstGeom>
        </p:spPr>
      </p:pic>
      <p:sp>
        <p:nvSpPr>
          <p:cNvPr id="51" name="Text 8">
            <a:extLst>
              <a:ext uri="{FF2B5EF4-FFF2-40B4-BE49-F238E27FC236}">
                <a16:creationId xmlns:a16="http://schemas.microsoft.com/office/drawing/2014/main" id="{DFB52A3E-B4BA-9447-CFB0-7DFEB4BCDCA4}"/>
              </a:ext>
            </a:extLst>
          </p:cNvPr>
          <p:cNvSpPr/>
          <p:nvPr/>
        </p:nvSpPr>
        <p:spPr>
          <a:xfrm>
            <a:off x="4120961" y="3282002"/>
            <a:ext cx="333368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Indicators</a:t>
            </a:r>
            <a:endParaRPr lang="en-US" sz="1700" dirty="0"/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9470ABD7-7318-049F-2488-957CE5C7A977}"/>
              </a:ext>
            </a:extLst>
          </p:cNvPr>
          <p:cNvSpPr/>
          <p:nvPr/>
        </p:nvSpPr>
        <p:spPr>
          <a:xfrm>
            <a:off x="4108796" y="3749040"/>
            <a:ext cx="438895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Blood_Glucose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HbA1c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Fasting_Blood_Sugar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Insulin_Level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Blood_Pressure_Systolic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Blood_Pressure_Diastolic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Total_Cholesterol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HDL . LDL . Triglycerides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Heart_Rate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Family_History_Diabetes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Hypertension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Heart_Disease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Fatty_Liver</a:t>
            </a: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PCOS . </a:t>
            </a:r>
            <a:r>
              <a:rPr lang="en-US" sz="10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Medication_Adherence</a:t>
            </a:r>
            <a:endParaRPr lang="en-US" sz="1050" dirty="0"/>
          </a:p>
        </p:txBody>
      </p:sp>
      <p:sp>
        <p:nvSpPr>
          <p:cNvPr id="55" name="Shape 10">
            <a:extLst>
              <a:ext uri="{FF2B5EF4-FFF2-40B4-BE49-F238E27FC236}">
                <a16:creationId xmlns:a16="http://schemas.microsoft.com/office/drawing/2014/main" id="{EFEF9760-AEE7-3D08-5A02-DFCB87CC2C33}"/>
              </a:ext>
            </a:extLst>
          </p:cNvPr>
          <p:cNvSpPr/>
          <p:nvPr/>
        </p:nvSpPr>
        <p:spPr>
          <a:xfrm>
            <a:off x="356082" y="4561196"/>
            <a:ext cx="4201766" cy="1938664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7" name="Shape 11">
            <a:extLst>
              <a:ext uri="{FF2B5EF4-FFF2-40B4-BE49-F238E27FC236}">
                <a16:creationId xmlns:a16="http://schemas.microsoft.com/office/drawing/2014/main" id="{4469B66C-6250-CA9A-1306-563A0B226E67}"/>
              </a:ext>
            </a:extLst>
          </p:cNvPr>
          <p:cNvSpPr/>
          <p:nvPr/>
        </p:nvSpPr>
        <p:spPr>
          <a:xfrm>
            <a:off x="642851" y="4764024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5DBB63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9" name="Image 2" descr="/home/claude/icons/running_white.png">
            <a:extLst>
              <a:ext uri="{FF2B5EF4-FFF2-40B4-BE49-F238E27FC236}">
                <a16:creationId xmlns:a16="http://schemas.microsoft.com/office/drawing/2014/main" id="{D4EB2341-E307-A186-14D9-CBD93BE2F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79" y="4873752"/>
            <a:ext cx="283464" cy="283464"/>
          </a:xfrm>
          <a:prstGeom prst="rect">
            <a:avLst/>
          </a:prstGeom>
        </p:spPr>
      </p:pic>
      <p:sp>
        <p:nvSpPr>
          <p:cNvPr id="61" name="Text 12">
            <a:extLst>
              <a:ext uri="{FF2B5EF4-FFF2-40B4-BE49-F238E27FC236}">
                <a16:creationId xmlns:a16="http://schemas.microsoft.com/office/drawing/2014/main" id="{28AF9C07-B1FB-F15B-E1EA-844964FCB88B}"/>
              </a:ext>
            </a:extLst>
          </p:cNvPr>
          <p:cNvSpPr/>
          <p:nvPr/>
        </p:nvSpPr>
        <p:spPr>
          <a:xfrm>
            <a:off x="642851" y="538581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700" dirty="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2BF1453E-AC32-84A0-2C54-A42E1E46D716}"/>
              </a:ext>
            </a:extLst>
          </p:cNvPr>
          <p:cNvSpPr/>
          <p:nvPr/>
        </p:nvSpPr>
        <p:spPr>
          <a:xfrm>
            <a:off x="642851" y="5769864"/>
            <a:ext cx="40635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Physical_Activity_Level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Exercise_Hours_Per_Week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Daily_Walking_Minutes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Diet_Quality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Sugar_Intake_Level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Sleep_Hours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Stress_Level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Smoking_Status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Alcohol_Consumption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Daily_Water_Intake_L</a:t>
            </a:r>
            <a:endParaRPr lang="en-US" sz="1150" dirty="0"/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C9BB3C25-69FD-8D0C-A8D9-873EC9E5F384}"/>
              </a:ext>
            </a:extLst>
          </p:cNvPr>
          <p:cNvSpPr/>
          <p:nvPr/>
        </p:nvSpPr>
        <p:spPr>
          <a:xfrm>
            <a:off x="4707607" y="4600126"/>
            <a:ext cx="3892165" cy="1899734"/>
          </a:xfrm>
          <a:prstGeom prst="roundRect">
            <a:avLst>
              <a:gd name="adj" fmla="val 4878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1BCD38C1-F494-5AA4-34A3-336DB73F47BA}"/>
              </a:ext>
            </a:extLst>
          </p:cNvPr>
          <p:cNvSpPr/>
          <p:nvPr/>
        </p:nvSpPr>
        <p:spPr>
          <a:xfrm>
            <a:off x="4977452" y="4764024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9" name="Image 3" descr="/home/claude/icons/chartpie_navy.png">
            <a:extLst>
              <a:ext uri="{FF2B5EF4-FFF2-40B4-BE49-F238E27FC236}">
                <a16:creationId xmlns:a16="http://schemas.microsoft.com/office/drawing/2014/main" id="{BC77AFF9-23EF-9E1E-98C3-E996EC8647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5790" y="4857200"/>
            <a:ext cx="239517" cy="300015"/>
          </a:xfrm>
          <a:prstGeom prst="rect">
            <a:avLst/>
          </a:prstGeom>
        </p:spPr>
      </p:pic>
      <p:sp>
        <p:nvSpPr>
          <p:cNvPr id="71" name="Text 16">
            <a:extLst>
              <a:ext uri="{FF2B5EF4-FFF2-40B4-BE49-F238E27FC236}">
                <a16:creationId xmlns:a16="http://schemas.microsoft.com/office/drawing/2014/main" id="{3617AEBE-0E05-D7D1-CFD8-91B6D8CD6AEF}"/>
              </a:ext>
            </a:extLst>
          </p:cNvPr>
          <p:cNvSpPr/>
          <p:nvPr/>
        </p:nvSpPr>
        <p:spPr>
          <a:xfrm>
            <a:off x="5006063" y="5385816"/>
            <a:ext cx="333368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70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AD719FC6-6F6C-2A29-D5BE-0EED35F4736F}"/>
              </a:ext>
            </a:extLst>
          </p:cNvPr>
          <p:cNvSpPr/>
          <p:nvPr/>
        </p:nvSpPr>
        <p:spPr>
          <a:xfrm>
            <a:off x="5051783" y="5769864"/>
            <a:ext cx="3333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Diabetes_Risk_Score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AI_Health_Recommendation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Doctor_Consultation_Needed</a:t>
            </a: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r>
              <a:rPr lang="en-US" sz="115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Diabetes_Risk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592FA-2E3C-149D-E95B-3BED38E4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2BD72D-EF6A-452E-92DE-0491FBDCBD87}"/>
              </a:ext>
            </a:extLst>
          </p:cNvPr>
          <p:cNvSpPr/>
          <p:nvPr/>
        </p:nvSpPr>
        <p:spPr>
          <a:xfrm>
            <a:off x="-1920240" y="-246888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4C49EE-3FC9-452B-2686-ED0A934B93D2}"/>
              </a:ext>
            </a:extLst>
          </p:cNvPr>
          <p:cNvSpPr/>
          <p:nvPr/>
        </p:nvSpPr>
        <p:spPr>
          <a:xfrm>
            <a:off x="9692640" y="3931920"/>
            <a:ext cx="4023360" cy="402336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05CC59-6ECD-1E27-5AF5-411D4528A538}"/>
              </a:ext>
            </a:extLst>
          </p:cNvPr>
          <p:cNvSpPr/>
          <p:nvPr/>
        </p:nvSpPr>
        <p:spPr>
          <a:xfrm>
            <a:off x="9052560" y="2331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1B3358"/>
                </a:solidFill>
                <a:latin typeface="Century Schoolbook" pitchFamily="34" charset="0"/>
              </a:rPr>
              <a:t>02</a:t>
            </a:r>
            <a:endParaRPr lang="en-US" sz="1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B3C511-C5A9-89E2-FDF5-F90CEB3B1DBB}"/>
              </a:ext>
            </a:extLst>
          </p:cNvPr>
          <p:cNvSpPr/>
          <p:nvPr/>
        </p:nvSpPr>
        <p:spPr>
          <a:xfrm>
            <a:off x="822960" y="1893723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/home/claude/icons/broom_white.png">
            <a:extLst>
              <a:ext uri="{FF2B5EF4-FFF2-40B4-BE49-F238E27FC236}">
                <a16:creationId xmlns:a16="http://schemas.microsoft.com/office/drawing/2014/main" id="{94B2758D-FDA2-0F17-309E-B1CC6BCB8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095805"/>
            <a:ext cx="373075" cy="373075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275D7B1-C04F-074E-A939-A7B7A36F7DC3}"/>
              </a:ext>
            </a:extLst>
          </p:cNvPr>
          <p:cNvSpPr/>
          <p:nvPr/>
        </p:nvSpPr>
        <p:spPr>
          <a:xfrm>
            <a:off x="822960" y="2971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Cleaning</a:t>
            </a:r>
            <a:endParaRPr lang="en-US" sz="4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8EC94A4-974C-F105-9052-CC242E424165}"/>
              </a:ext>
            </a:extLst>
          </p:cNvPr>
          <p:cNvSpPr/>
          <p:nvPr/>
        </p:nvSpPr>
        <p:spPr>
          <a:xfrm>
            <a:off x="82296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B9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dataset so it's ready for analysis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81AD3B1-DD7E-642C-7134-C4DF384B48FC}"/>
              </a:ext>
            </a:extLst>
          </p:cNvPr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Analysis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8427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645E75-B4A8-2464-58D4-B2FA57234E85}"/>
              </a:ext>
            </a:extLst>
          </p:cNvPr>
          <p:cNvSpPr/>
          <p:nvPr/>
        </p:nvSpPr>
        <p:spPr>
          <a:xfrm>
            <a:off x="11030673" y="6530109"/>
            <a:ext cx="1047027" cy="32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3035EA35-92ED-FFF4-3C57-061C74543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1"/>
          <a:stretch>
            <a:fillRect/>
          </a:stretch>
        </p:blipFill>
        <p:spPr>
          <a:xfrm>
            <a:off x="792480" y="1172527"/>
            <a:ext cx="5455920" cy="496811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61" name="Text 1">
            <a:extLst>
              <a:ext uri="{FF2B5EF4-FFF2-40B4-BE49-F238E27FC236}">
                <a16:creationId xmlns:a16="http://schemas.microsoft.com/office/drawing/2014/main" id="{D346792D-1FB1-B816-15F2-FD791D12098C}"/>
              </a:ext>
            </a:extLst>
          </p:cNvPr>
          <p:cNvSpPr/>
          <p:nvPr/>
        </p:nvSpPr>
        <p:spPr>
          <a:xfrm>
            <a:off x="0" y="300719"/>
            <a:ext cx="1219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latin typeface="Arial Narrow" panose="020B0606020202030204" pitchFamily="34" charset="0"/>
                <a:ea typeface="Century Schoolbook" pitchFamily="34" charset="-122"/>
                <a:cs typeface="Century Schoolbook" pitchFamily="34" charset="-120"/>
              </a:rPr>
              <a:t>Cleaning Step 1: Show Missing Values</a:t>
            </a:r>
            <a:endParaRPr lang="en-US" sz="3600" b="1" dirty="0">
              <a:latin typeface="Arial Narrow" panose="020B0606020202030204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00F4855-2078-AD99-947C-B991FB4F5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2"/>
          <a:stretch>
            <a:fillRect/>
          </a:stretch>
        </p:blipFill>
        <p:spPr>
          <a:xfrm>
            <a:off x="7498080" y="2826973"/>
            <a:ext cx="3358961" cy="1204053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27249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212B27-5D71-FCAB-205E-C8B33551A3FD}"/>
              </a:ext>
            </a:extLst>
          </p:cNvPr>
          <p:cNvSpPr/>
          <p:nvPr/>
        </p:nvSpPr>
        <p:spPr>
          <a:xfrm>
            <a:off x="11030673" y="6530109"/>
            <a:ext cx="1047027" cy="32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FB2330-6100-F43F-51BD-303CFCA88250}"/>
              </a:ext>
            </a:extLst>
          </p:cNvPr>
          <p:cNvSpPr/>
          <p:nvPr/>
        </p:nvSpPr>
        <p:spPr>
          <a:xfrm>
            <a:off x="4236720" y="277507"/>
            <a:ext cx="26416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  <a:latin typeface="Arial Narrow" panose="020B0606020202030204" pitchFamily="34" charset="0"/>
              </a:rPr>
              <a:t>2</a:t>
            </a:r>
            <a:endParaRPr lang="en-001" sz="3600" b="1" dirty="0">
              <a:solidFill>
                <a:sysClr val="windowText" lastClr="00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00A071-2A22-7B52-E58B-DA25B3447735}"/>
              </a:ext>
            </a:extLst>
          </p:cNvPr>
          <p:cNvSpPr/>
          <p:nvPr/>
        </p:nvSpPr>
        <p:spPr>
          <a:xfrm>
            <a:off x="11030673" y="6530109"/>
            <a:ext cx="1047027" cy="32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72495-1718-EA61-E124-E5407F98DAA0}"/>
              </a:ext>
            </a:extLst>
          </p:cNvPr>
          <p:cNvSpPr/>
          <p:nvPr/>
        </p:nvSpPr>
        <p:spPr>
          <a:xfrm>
            <a:off x="3972560" y="277507"/>
            <a:ext cx="349504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  <a:latin typeface="Arial Narrow" panose="020B0606020202030204" pitchFamily="34" charset="0"/>
              </a:rPr>
              <a:t>3</a:t>
            </a:r>
            <a:endParaRPr lang="en-001" sz="3600" b="1" dirty="0">
              <a:solidFill>
                <a:sysClr val="windowText" lastClr="00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9FDA3F-71BB-FB32-FF6D-E4AE40F901CB}"/>
              </a:ext>
            </a:extLst>
          </p:cNvPr>
          <p:cNvSpPr/>
          <p:nvPr/>
        </p:nvSpPr>
        <p:spPr>
          <a:xfrm>
            <a:off x="11030673" y="6530109"/>
            <a:ext cx="1047027" cy="32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62F76E-B8A9-0D5B-7EA9-A1589EA023DD}"/>
              </a:ext>
            </a:extLst>
          </p:cNvPr>
          <p:cNvSpPr/>
          <p:nvPr/>
        </p:nvSpPr>
        <p:spPr>
          <a:xfrm>
            <a:off x="4638040" y="277507"/>
            <a:ext cx="26416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ysClr val="windowText" lastClr="000000"/>
                </a:solidFill>
                <a:latin typeface="Arial Narrow" panose="020B0606020202030204" pitchFamily="34" charset="0"/>
              </a:rPr>
              <a:t>4</a:t>
            </a:r>
            <a:endParaRPr lang="en-001" sz="3600" b="1" dirty="0">
              <a:solidFill>
                <a:sysClr val="windowText" lastClr="00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2B9E08-8CDB-55B7-61CA-8AC19DA39BC9}"/>
              </a:ext>
            </a:extLst>
          </p:cNvPr>
          <p:cNvSpPr txBox="1"/>
          <p:nvPr/>
        </p:nvSpPr>
        <p:spPr>
          <a:xfrm>
            <a:off x="6995048" y="908622"/>
            <a:ext cx="4267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Abadi" panose="020B0604020104020204" pitchFamily="34" charset="0"/>
              </a:rPr>
              <a:t>Information about cleaned data</a:t>
            </a:r>
            <a:endParaRPr lang="en-001" sz="2000" b="1" u="sng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F76B1-CEA0-31F4-B039-805F9284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8" y="99898"/>
            <a:ext cx="5623105" cy="66582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2CC54D-DB1B-1B06-1FC4-E777551E7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796" y="3071486"/>
            <a:ext cx="5315692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54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238760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9692640" y="3931920"/>
            <a:ext cx="4023360" cy="402336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Text 2"/>
          <p:cNvSpPr/>
          <p:nvPr/>
        </p:nvSpPr>
        <p:spPr>
          <a:xfrm>
            <a:off x="9052560" y="2331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1B335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822960" y="1893723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/home/claude/icons/chartb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095805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Analysis &amp; Visualization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analytical question per chart, plus the exact code behind 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distribution of diabetes risk levels among patients?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countplot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190" y="1682496"/>
            <a:ext cx="4128621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9560" y="245973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risk class dominates by a wide margin — about 36,700 patients.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897876" y="3689604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291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Moderate risk class has about 13,000 patients.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18704" y="4668012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27939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 risk class is very rare — fewer than 500 patients.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9F3C371-BF40-83DB-4F51-55EB0A30A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50487"/>
            <a:ext cx="6338297" cy="17804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does HbA1c (average blood sugar) differ across risk levels?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boxplot_hba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337" y="1682496"/>
            <a:ext cx="4250326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894828" y="257403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HbA1c rises clearly with risk level: ~5.2% for Low, ~6.8% for Moderate, and ~8.9% for High.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9560" y="3529584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291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patients show the tightest spread, while Moderate and High are more variable.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467715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27939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HbA1c as one of the strongest indicators of diabetes risk.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F37D73E-995D-44B3-C1E8-A691C3A50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1" y="4901184"/>
            <a:ext cx="6903720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a family history of diabetes increase the risk level?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family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456" y="1682496"/>
            <a:ext cx="4576087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0416" y="2560320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29016" y="2514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patients with a family history (Yes), the High risk class almost completely dominates over Moderate.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0416" y="384225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29016" y="368503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those without one (No), High is still the largest group, but Moderate is relatively bigger, with a few Low cases appearing.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0416" y="501446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29016" y="4821936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history acts as an additional factor that raises the likelihood of landing in the High risk group.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B21924-8B47-D9D8-3A2E-BCC1A687D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12676"/>
            <a:ext cx="7086600" cy="18379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relationship between fasting blood sugar and HbA1c?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scatter_fbs_hba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429" y="1682496"/>
            <a:ext cx="4710142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9560" y="2542032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points (green) cluster in the higher HbA1c range across nearly the full FBS range.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9560" y="3529584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291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points (orange) concentrate more at lower HbA1c values.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451713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43179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direct linear relationship appears between the two variables, but both independently relate to risk level.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CF0B113-732C-4B09-6F4B-52639AE98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791456"/>
            <a:ext cx="6811326" cy="18385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the physical activity level affect the diabetes risk distribution?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physical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429" y="1682496"/>
            <a:ext cx="4710142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9560" y="2542032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fairly close across the three activity levels (Low / Moderate / High).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9560" y="3529584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3329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risk class remains dominant at roughly the same share in every activity level.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18458" y="4549140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4759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activity level alone does not appear as a strong distinguishing factor — it likely interacts with other variables.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225F9C-0F05-D6E8-309F-99BA65157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22" y="4846321"/>
            <a:ext cx="7313618" cy="16378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does diabetes risk change across age groups?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278124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age_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927" y="1682496"/>
            <a:ext cx="4401147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9560" y="253288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case counts increase gradually with age, peaking in the 60+ group (~16,700 cases).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9560" y="368096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291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Moderate risk class stays relatively stable across age groups.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4607560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27939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emerges as a clear contributing factor to diabetes risk.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EF82A58-37E4-9F98-9066-050CAEC49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39" y="4759452"/>
            <a:ext cx="6903719" cy="1926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relationship between BMI and risk level?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bmi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950" y="1682496"/>
            <a:ext cx="4225101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9560" y="249021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BMI rises with risk level: ~23.5 for Low, ~26.5 for Moderate, and ~31.5 for High.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9560" y="360984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291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risk group also has the largest number of high BMI outliers.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4597400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27939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weight is clearly associated with higher diabetes risk.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3C2381-F6A5-E5D7-5B13-3C140B0ED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09744"/>
            <a:ext cx="6638542" cy="1591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Q8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 sugar intake level related to diabetes risk?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03720" cy="3310128"/>
          </a:xfrm>
          <a:prstGeom prst="roundRect">
            <a:avLst>
              <a:gd name="adj" fmla="val 2762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sugar_int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962" y="1682496"/>
            <a:ext cx="4395076" cy="29077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481328"/>
            <a:ext cx="3977640" cy="4828032"/>
          </a:xfrm>
          <a:prstGeom prst="roundRect">
            <a:avLst>
              <a:gd name="adj" fmla="val 2759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7909560" y="1737360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8379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58200" y="173736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909560" y="2632456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8138160" y="2304288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very similar across all three sugar intake levels.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909560" y="3477768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8138160" y="32918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risk class remains the majority at roughly the same share in every level.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4465320"/>
            <a:ext cx="82296" cy="82296"/>
          </a:xfrm>
          <a:prstGeom prst="ellipse">
            <a:avLst/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8138160" y="427939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with activity level, sugar intake alone doesn't stand out as a strong distinguishing factor in this sample.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065EF5B-4825-00FD-018D-93D477902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" y="4791456"/>
            <a:ext cx="6943793" cy="18755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VISUALIZATION · CORRELATION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Correlation Heatmap of Numeric Variables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52360" cy="3429000"/>
          </a:xfrm>
          <a:prstGeom prst="roundRect">
            <a:avLst>
              <a:gd name="adj" fmla="val 2667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mgs/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581912"/>
            <a:ext cx="5379720" cy="3099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417320"/>
            <a:ext cx="3383280" cy="4892040"/>
          </a:xfrm>
          <a:prstGeom prst="roundRect">
            <a:avLst>
              <a:gd name="adj" fmla="val 3243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Text 7"/>
          <p:cNvSpPr/>
          <p:nvPr/>
        </p:nvSpPr>
        <p:spPr>
          <a:xfrm>
            <a:off x="8503920" y="16276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links to risk score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503920" y="21945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0.45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281160" y="21945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Fasting_Blood_Sugar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503920" y="261518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0.32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81160" y="26151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03920" y="303580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81160" y="303580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03920" y="34564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281160" y="3456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03920" y="387705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281160" y="387705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03920" y="42976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6B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81160" y="4297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3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Blood_Pressure_Systolic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503920" y="495604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A9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exercise and daily water intake show almost no correlation with risk in this sample.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3AF0435-1280-C17B-7E05-2FDF3E59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59"/>
          <a:stretch>
            <a:fillRect/>
          </a:stretch>
        </p:blipFill>
        <p:spPr>
          <a:xfrm>
            <a:off x="335933" y="4801905"/>
            <a:ext cx="7893668" cy="181881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-2468880"/>
            <a:ext cx="5486400" cy="548640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9692640" y="3931920"/>
            <a:ext cx="4023360" cy="402336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Text 2"/>
          <p:cNvSpPr/>
          <p:nvPr/>
        </p:nvSpPr>
        <p:spPr>
          <a:xfrm>
            <a:off x="9052560" y="23317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0" b="1" dirty="0">
                <a:solidFill>
                  <a:srgbClr val="1B335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3000" dirty="0"/>
          </a:p>
        </p:txBody>
      </p:sp>
      <p:sp>
        <p:nvSpPr>
          <p:cNvPr id="5" name="Shape 3"/>
          <p:cNvSpPr/>
          <p:nvPr/>
        </p:nvSpPr>
        <p:spPr>
          <a:xfrm>
            <a:off x="822960" y="1939443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/home/claude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141525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Health Recommendations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to lower the risk of developing diabetes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3F8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RECOMMENDATIONS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0128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2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Tips to Lower Diabetes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B3B6F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6" name="Image 0" descr="/home/claude/icons/ti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0253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blood sugar regularly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22960" y="304495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fasting blood sugar and HbA1c — the two strongest predictors of risk.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Shape 7"/>
          <p:cNvSpPr/>
          <p:nvPr/>
        </p:nvSpPr>
        <p:spPr>
          <a:xfrm>
            <a:off x="4663440" y="189280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3F8EFC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1" name="Image 1" descr="/home/claude/icons/we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00253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560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healthy weight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663440" y="304495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BMI is clearly associated with lower risk in the data.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5" name="Shape 11"/>
          <p:cNvSpPr/>
          <p:nvPr/>
        </p:nvSpPr>
        <p:spPr>
          <a:xfrm>
            <a:off x="8503920" y="189280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5DBB63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6" name="Image 2" descr="/home/claude/icons/cloc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002536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560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vigilance after 45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503920" y="304495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gradually with age, especially after 60.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0" name="Shape 15"/>
          <p:cNvSpPr/>
          <p:nvPr/>
        </p:nvSpPr>
        <p:spPr>
          <a:xfrm>
            <a:off x="822960" y="44531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1" name="Image 3" descr="/home/claude/icons/userfriend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562856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120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checkups with family history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822960" y="560527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 family history are more likely to fall in the High risk group.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89120" y="416052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Shape 19"/>
          <p:cNvSpPr/>
          <p:nvPr/>
        </p:nvSpPr>
        <p:spPr>
          <a:xfrm>
            <a:off x="4663440" y="44531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6D8FC4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6" name="Image 4" descr="/home/claude/icons/app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562856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5120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back on sugar and fat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663440" y="560527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balanced diet with less added sugar.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229600" y="416052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1F5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0" name="Shape 23"/>
          <p:cNvSpPr/>
          <p:nvPr/>
        </p:nvSpPr>
        <p:spPr>
          <a:xfrm>
            <a:off x="8503920" y="44531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7E57A0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31" name="Image 5" descr="/home/claude/icons/be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648" y="4562856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5120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active and sleep well</a:t>
            </a: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8503920" y="5605272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exercise and healthy sleep support overall health and prevention.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1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937760" cy="4937760"/>
          </a:xfrm>
          <a:prstGeom prst="ellipse">
            <a:avLst/>
          </a:prstGeom>
          <a:solidFill>
            <a:srgbClr val="1B3358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-1463040" y="4480560"/>
            <a:ext cx="3474720" cy="3474720"/>
          </a:xfrm>
          <a:prstGeom prst="ellipse">
            <a:avLst/>
          </a:prstGeom>
          <a:solidFill>
            <a:srgbClr val="1B3B6F">
              <a:alpha val="65000"/>
            </a:srgbClr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5707228" y="19659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6B5B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5" name="Image 0" descr="/home/claude/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21680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9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are welcome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1130</Words>
  <Application>Microsoft Office PowerPoint</Application>
  <PresentationFormat>Widescreen</PresentationFormat>
  <Paragraphs>155</Paragraphs>
  <Slides>27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Abadi</vt:lpstr>
      <vt:lpstr>Aptos</vt:lpstr>
      <vt:lpstr>Arial</vt:lpstr>
      <vt:lpstr>Arial Narrow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Amira Adel</cp:lastModifiedBy>
  <cp:revision>17</cp:revision>
  <dcterms:created xsi:type="dcterms:W3CDTF">2026-09-16T21:04:48Z</dcterms:created>
  <dcterms:modified xsi:type="dcterms:W3CDTF">2026-10-02T19:00:36Z</dcterms:modified>
</cp:coreProperties>
</file>